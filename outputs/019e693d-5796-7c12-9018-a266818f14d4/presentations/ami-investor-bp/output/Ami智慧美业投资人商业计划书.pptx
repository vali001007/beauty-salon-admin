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14211F"/>
          </a:solidFill>
          <a:ln w="0">
            <a:solidFill>
              <a:srgbClr val="14211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514350"/>
            <a:ext cx="123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rPr>
              <a:t>Ami</a:t>
            </a:r>
            <a:endParaRPr sz="2550" b="1">
              <a:solidFill>
                <a:srgbClr val="C9956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10490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智慧美业门店解决方案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95450"/>
            <a:ext cx="2876550" cy="1295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+ 智能硬件 + SaaS，把门店经营、客户接待和耗品供应连接成一套增长系统。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59626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8C7C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7C1"/>
                </a:solidFill>
                <a:latin typeface="Aptos"/>
                <a:ea typeface="Aptos"/>
                <a:cs typeface="Aptos"/>
              </a:rPr>
              <a:t>Investor Business Plan</a:t>
            </a:r>
            <a:endParaRPr sz="975" b="0">
              <a:solidFill>
                <a:srgbClr val="B8C7C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495800" y="742950"/>
            <a:ext cx="15811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667250" y="914400"/>
            <a:ext cx="1238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E5D5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E5D58"/>
                </a:solidFill>
                <a:latin typeface="Aptos Display"/>
                <a:ea typeface="Aptos Display"/>
                <a:cs typeface="Aptos Display"/>
              </a:rPr>
              <a:t>3</a:t>
            </a:r>
            <a:endParaRPr sz="2250" b="1">
              <a:solidFill>
                <a:srgbClr val="1E5D5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667250" y="12954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产品触点</a:t>
            </a:r>
            <a:endParaRPr sz="1125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67250" y="15430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Core / Aura / Greet</a:t>
            </a:r>
            <a:endParaRPr sz="8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48400" y="742950"/>
            <a:ext cx="20764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19850" y="914400"/>
            <a:ext cx="1733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rPr>
              <a:t>5</a:t>
            </a:r>
            <a:endParaRPr sz="2250" b="1">
              <a:solidFill>
                <a:srgbClr val="C9956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19850" y="1295400"/>
            <a:ext cx="1733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收入来源</a:t>
            </a:r>
            <a:endParaRPr sz="1125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19850" y="1543050"/>
            <a:ext cx="1733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 / 硬件 / AI / 供应链 / 定制</a:t>
            </a:r>
            <a:endParaRPr sz="8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496300" y="742950"/>
            <a:ext cx="15811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667750" y="914400"/>
            <a:ext cx="1238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7861A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7861A8"/>
                </a:solidFill>
                <a:latin typeface="Aptos Display"/>
                <a:ea typeface="Aptos Display"/>
                <a:cs typeface="Aptos Display"/>
              </a:rPr>
              <a:t>1</a:t>
            </a:r>
            <a:endParaRPr sz="2250" b="1">
              <a:solidFill>
                <a:srgbClr val="7861A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667750" y="12954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数据闭环</a:t>
            </a:r>
            <a:endParaRPr sz="1125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0" y="15430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从到店到补货</a:t>
            </a:r>
            <a:endParaRPr sz="8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86275" y="2181225"/>
            <a:ext cx="3448050" cy="22288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E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rcRect l="6358" r="6358"/>
          <a:stretch>
            <a:fillRect/>
          </a:stretch>
        </p:blipFill>
        <p:spPr>
          <a:xfrm>
            <a:off x="4495800" y="2190750"/>
            <a:ext cx="3429000" cy="220980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8162925" y="2181225"/>
            <a:ext cx="3162300" cy="22288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E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rcRect l="9995" r="9995"/>
          <a:stretch>
            <a:fillRect/>
          </a:stretch>
        </p:blipFill>
        <p:spPr>
          <a:xfrm>
            <a:off x="8172450" y="2190750"/>
            <a:ext cx="3143250" cy="2209800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4486275" y="4638675"/>
            <a:ext cx="683895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E"/>
            </a:solidFill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188" y="4648200"/>
            <a:ext cx="2143125" cy="1428750"/>
          </a:xfrm>
          <a:prstGeom prst="rect">
            <a:avLst/>
          </a:prstGeom>
        </p:spPr>
      </p:pic>
      <p:sp>
        <p:nvSpPr>
          <p:cNvPr id="26" name="矩形 25"/>
          <p:cNvSpPr>
            <a:spLocks noGrp="1"/>
          </p:cNvSpPr>
          <p:nvPr/>
        </p:nvSpPr>
        <p:spPr>
          <a:xfrm>
            <a:off x="533400" y="65151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Ami Investor BP</a:t>
            </a:r>
            <a:endParaRPr sz="75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391900" y="64770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01</a:t>
            </a:r>
            <a:endParaRPr sz="90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995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56C"/>
                </a:solidFill>
                <a:latin typeface="Aptos"/>
                <a:ea typeface="Aptos"/>
                <a:cs typeface="Aptos"/>
              </a:rPr>
              <a:t>MARKET PAIN</a:t>
            </a:r>
            <a:endParaRPr sz="975" b="1">
              <a:solidFill>
                <a:srgbClr val="C9956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66750"/>
            <a:ext cx="7524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门店不是缺工具，而是缺一条连续的数据链。</a:t>
            </a:r>
            <a:endParaRPr sz="25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48590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客户、员工、库存、营销各自分散，老板无法把日常服务变成可复用资产。</a:t>
            </a:r>
            <a:endParaRPr sz="11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2209800"/>
            <a:ext cx="23431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24574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E5D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E5D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老板视角</a:t>
            </a:r>
            <a:endParaRPr sz="1050" b="1">
              <a:solidFill>
                <a:srgbClr val="1E5D5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89560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看不清</a:t>
            </a:r>
            <a:endParaRPr sz="25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3581400"/>
            <a:ext cx="400050" cy="57150"/>
          </a:xfrm>
          <a:prstGeom prst="rect">
            <a:avLst/>
          </a:prstGeom>
          <a:solidFill>
            <a:srgbClr val="1E5D58"/>
          </a:solidFill>
          <a:ln w="0">
            <a:solidFill>
              <a:srgbClr val="1E5D5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3905250"/>
            <a:ext cx="185737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业绩、员工、库存和复购风险靠人工追问。</a:t>
            </a:r>
            <a:endParaRPr sz="135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467100" y="2209800"/>
            <a:ext cx="23431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676650" y="24574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995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995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员工视角</a:t>
            </a:r>
            <a:endParaRPr sz="1050" b="1">
              <a:solidFill>
                <a:srgbClr val="C995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676650" y="289560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做不稳</a:t>
            </a:r>
            <a:endParaRPr sz="25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76650" y="3581400"/>
            <a:ext cx="400050" cy="57150"/>
          </a:xfrm>
          <a:prstGeom prst="rect">
            <a:avLst/>
          </a:prstGeom>
          <a:solidFill>
            <a:srgbClr val="C9956C"/>
          </a:solidFill>
          <a:ln w="0">
            <a:solidFill>
              <a:srgbClr val="C9956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676650" y="3905250"/>
            <a:ext cx="185737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新人难复制顾问话术，服务记录常事后补录。</a:t>
            </a:r>
            <a:endParaRPr sz="135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67450" y="2209800"/>
            <a:ext cx="23431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77000" y="24574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86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86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客户视角</a:t>
            </a:r>
            <a:endParaRPr sz="1050" b="1">
              <a:solidFill>
                <a:srgbClr val="7861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77000" y="289560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体验断</a:t>
            </a:r>
            <a:endParaRPr sz="25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77000" y="3581400"/>
            <a:ext cx="400050" cy="57150"/>
          </a:xfrm>
          <a:prstGeom prst="rect">
            <a:avLst/>
          </a:prstGeom>
          <a:solidFill>
            <a:srgbClr val="7861A8"/>
          </a:solidFill>
          <a:ln w="0">
            <a:solidFill>
              <a:srgbClr val="7861A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477000" y="3905250"/>
            <a:ext cx="185737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到店、咨询、护理和复购之间缺少连续记忆。</a:t>
            </a:r>
            <a:endParaRPr sz="135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067800" y="2209800"/>
            <a:ext cx="23431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277350" y="24574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95F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95F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供应视角</a:t>
            </a:r>
            <a:endParaRPr sz="1050" b="1">
              <a:solidFill>
                <a:srgbClr val="D95F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277350" y="289560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补货慢</a:t>
            </a:r>
            <a:endParaRPr sz="25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277350" y="3581400"/>
            <a:ext cx="400050" cy="57150"/>
          </a:xfrm>
          <a:prstGeom prst="rect">
            <a:avLst/>
          </a:prstGeom>
          <a:solidFill>
            <a:srgbClr val="D95F59"/>
          </a:solidFill>
          <a:ln w="0">
            <a:solidFill>
              <a:srgbClr val="D95F59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277350" y="3905250"/>
            <a:ext cx="185737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耗品消耗和采购时点分离，容易缺货或压货。</a:t>
            </a:r>
            <a:endParaRPr sz="135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81100" y="5334000"/>
            <a:ext cx="9810750" cy="438150"/>
          </a:xfrm>
          <a:prstGeom prst="rect">
            <a:avLst/>
          </a:prstGeom>
          <a:solidFill>
            <a:srgbClr val="14211F"/>
          </a:solidFill>
          <a:ln w="0">
            <a:solidFill>
              <a:srgbClr val="14211F"/>
            </a:solidFill>
            <a:prstDash val="solid"/>
          </a:ln>
        </p:spPr>
        <p:txBody>
          <a:bodyPr lIns="190500" tIns="76200" rIns="190500" bIns="7620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结果：客户资产无法沉淀，经营动作无法自动化，供应链也无法按真实消耗运转。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33400" y="65151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Ami Investor BP</a:t>
            </a:r>
            <a:endParaRPr sz="75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391900" y="64770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02</a:t>
            </a:r>
            <a:endParaRPr sz="90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995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56C"/>
                </a:solidFill>
                <a:latin typeface="Aptos"/>
                <a:ea typeface="Aptos"/>
                <a:cs typeface="Aptos"/>
              </a:rPr>
              <a:t>SOLUTION LOOP</a:t>
            </a:r>
            <a:endParaRPr sz="975" b="1">
              <a:solidFill>
                <a:srgbClr val="C9956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66750"/>
            <a:ext cx="7524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Ami 把每次到店变成可运营的增长信号。</a:t>
            </a:r>
            <a:endParaRPr sz="25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48590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Greet 负责第一触点，Aura 负责服务现场，Core 负责数据沉淀和经营决策。</a:t>
            </a:r>
            <a:endParaRPr sz="11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2476500"/>
            <a:ext cx="2209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27051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rPr>
              <a:t>01</a:t>
            </a:r>
            <a:endParaRPr sz="1350" b="1">
              <a:solidFill>
                <a:srgbClr val="C9956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31051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进店欢迎</a:t>
            </a:r>
            <a:endParaRPr sz="180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35623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E5D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5D58"/>
                </a:solidFill>
                <a:latin typeface="Aptos"/>
                <a:ea typeface="Aptos"/>
                <a:cs typeface="Aptos"/>
              </a:rPr>
              <a:t>Ami_Greet</a:t>
            </a:r>
            <a:endParaRPr sz="1275" b="1">
              <a:solidFill>
                <a:srgbClr val="1E5D5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39052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迎宾 / 分流 / 展示</a:t>
            </a:r>
            <a:endParaRPr sz="105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009900" y="3219450"/>
            <a:ext cx="400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850" b="1">
                <a:solidFill>
                  <a:srgbClr val="C9956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9956C"/>
                </a:solidFill>
                <a:latin typeface="Aptos"/>
                <a:ea typeface="Aptos"/>
                <a:cs typeface="Aptos"/>
              </a:rPr>
              <a:t>→</a:t>
            </a:r>
            <a:endParaRPr sz="2850" b="1">
              <a:solidFill>
                <a:srgbClr val="C9956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48050" y="2476500"/>
            <a:ext cx="2209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657600" y="27051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rPr>
              <a:t>02</a:t>
            </a:r>
            <a:endParaRPr sz="1350" b="1">
              <a:solidFill>
                <a:srgbClr val="C9956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57600" y="31051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服务办理</a:t>
            </a:r>
            <a:endParaRPr sz="180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657600" y="35623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E5D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5D58"/>
                </a:solidFill>
                <a:latin typeface="Aptos"/>
                <a:ea typeface="Aptos"/>
                <a:cs typeface="Aptos"/>
              </a:rPr>
              <a:t>Ami_Aura</a:t>
            </a:r>
            <a:endParaRPr sz="1275" b="1">
              <a:solidFill>
                <a:srgbClr val="1E5D5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657600" y="39052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 / 推荐 / 核销</a:t>
            </a:r>
            <a:endParaRPr sz="105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791200" y="3219450"/>
            <a:ext cx="400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850" b="1">
                <a:solidFill>
                  <a:srgbClr val="C9956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9956C"/>
                </a:solidFill>
                <a:latin typeface="Aptos"/>
                <a:ea typeface="Aptos"/>
                <a:cs typeface="Aptos"/>
              </a:rPr>
              <a:t>→</a:t>
            </a:r>
            <a:endParaRPr sz="2850" b="1">
              <a:solidFill>
                <a:srgbClr val="C9956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29350" y="2476500"/>
            <a:ext cx="2209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38900" y="27051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rPr>
              <a:t>03</a:t>
            </a:r>
            <a:endParaRPr sz="1350" b="1">
              <a:solidFill>
                <a:srgbClr val="C9956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38900" y="31051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数据回流</a:t>
            </a:r>
            <a:endParaRPr sz="180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38900" y="35623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E5D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5D58"/>
                </a:solidFill>
                <a:latin typeface="Aptos"/>
                <a:ea typeface="Aptos"/>
                <a:cs typeface="Aptos"/>
              </a:rPr>
              <a:t>Ami_Core</a:t>
            </a:r>
            <a:endParaRPr sz="1275" b="1">
              <a:solidFill>
                <a:srgbClr val="1E5D5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38900" y="39052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 / 订单 / 库存</a:t>
            </a:r>
            <a:endParaRPr sz="105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72500" y="3219450"/>
            <a:ext cx="400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850" b="1">
                <a:solidFill>
                  <a:srgbClr val="C9956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9956C"/>
                </a:solidFill>
                <a:latin typeface="Aptos"/>
                <a:ea typeface="Aptos"/>
                <a:cs typeface="Aptos"/>
              </a:rPr>
              <a:t>→</a:t>
            </a:r>
            <a:endParaRPr sz="2850" b="1">
              <a:solidFill>
                <a:srgbClr val="C9956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010650" y="2476500"/>
            <a:ext cx="2209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220200" y="27051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rPr>
              <a:t>04</a:t>
            </a:r>
            <a:endParaRPr sz="1350" b="1">
              <a:solidFill>
                <a:srgbClr val="C9956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220200" y="31051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lvl="0" algn="l">
              <a:buClrTx/>
              <a:buSzTx/>
              <a:buFontTx/>
              <a:defRPr sz="180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经营动作</a:t>
            </a:r>
            <a:endParaRPr>
              <a:sym typeface="+mn-ea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220200" y="35623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lvl="0" algn="l">
              <a:buClrTx/>
              <a:buSzTx/>
              <a:buFontTx/>
              <a:defRPr sz="1275" b="1">
                <a:solidFill>
                  <a:srgbClr val="1E5D58"/>
                </a:solidFill>
                <a:latin typeface="Aptos"/>
                <a:ea typeface="Aptos"/>
                <a:cs typeface="Aptos"/>
              </a:defRPr>
            </a:pPr>
            <a:r>
              <a:rPr>
                <a:sym typeface="+mn-ea"/>
              </a:rPr>
              <a:t>AI Engine</a:t>
            </a:r>
            <a:endParaRPr>
              <a:sym typeface="+mn-ea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220200" y="39052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lvl="0" algn="l">
              <a:buClrTx/>
              <a:buSzTx/>
              <a:buFontTx/>
              <a:defRPr sz="10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营销 / 补货 / 决策</a:t>
            </a:r>
            <a:endParaRPr>
              <a:sym typeface="+mn-ea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714500" y="4819650"/>
            <a:ext cx="8782050" cy="19050"/>
          </a:xfrm>
          <a:prstGeom prst="rect">
            <a:avLst/>
          </a:prstGeom>
          <a:solidFill>
            <a:srgbClr val="C9956C"/>
          </a:solidFill>
          <a:ln w="0">
            <a:solidFill>
              <a:srgbClr val="C9956C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123950" y="51054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E5D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E5D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客户体验提升</a:t>
            </a:r>
            <a:endParaRPr sz="1350" b="1">
              <a:solidFill>
                <a:srgbClr val="1E5D5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943350" y="51054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E5D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E5D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员工效率提升</a:t>
            </a:r>
            <a:endParaRPr sz="1350" b="1">
              <a:solidFill>
                <a:srgbClr val="1E5D5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724650" y="51054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E5D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E5D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老板决策提升</a:t>
            </a:r>
            <a:endParaRPr sz="1350" b="1">
              <a:solidFill>
                <a:srgbClr val="1E5D5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505950" y="51054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E5D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E5D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供应交易沉淀</a:t>
            </a:r>
            <a:endParaRPr sz="1350" b="1">
              <a:solidFill>
                <a:srgbClr val="1E5D5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33400" y="65151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Ami Investor BP</a:t>
            </a:r>
            <a:endParaRPr sz="75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1391900" y="64770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03</a:t>
            </a:r>
            <a:endParaRPr sz="90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995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56C"/>
                </a:solidFill>
                <a:latin typeface="Aptos"/>
                <a:ea typeface="Aptos"/>
                <a:cs typeface="Aptos"/>
              </a:rPr>
              <a:t>PRODUCT MATRIX</a:t>
            </a:r>
            <a:endParaRPr sz="975" b="1">
              <a:solidFill>
                <a:srgbClr val="C9956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66750"/>
            <a:ext cx="7524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三类产品覆盖管理端、服务现场和门店入口。</a:t>
            </a:r>
            <a:endParaRPr sz="25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48590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不是单点卖软件，而是在门店现场建立连续触点。</a:t>
            </a:r>
            <a:endParaRPr sz="11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20764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Ami_Core</a:t>
            </a:r>
            <a:endParaRPr sz="1950" b="1">
              <a:solidFill>
                <a:srgbClr val="1421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24193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995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995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经营中枢</a:t>
            </a:r>
            <a:endParaRPr sz="1200" b="1">
              <a:solidFill>
                <a:srgbClr val="C995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7225" y="2847975"/>
            <a:ext cx="31623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E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1151" r="1151"/>
          <a:stretch>
            <a:fillRect/>
          </a:stretch>
        </p:blipFill>
        <p:spPr>
          <a:xfrm>
            <a:off x="666750" y="2857500"/>
            <a:ext cx="3143250" cy="18097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66750" y="4953000"/>
            <a:ext cx="295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 / 营销 / 库存 / 报表</a:t>
            </a:r>
            <a:endParaRPr sz="135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381500" y="20764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Ami_Aura</a:t>
            </a:r>
            <a:endParaRPr sz="1950" b="1">
              <a:solidFill>
                <a:srgbClr val="1421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381500" y="24193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995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995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</a:t>
            </a:r>
            <a:endParaRPr sz="1200" b="1">
              <a:solidFill>
                <a:srgbClr val="C995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371975" y="2847975"/>
            <a:ext cx="31623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E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rcRect l="1151" r="1151"/>
          <a:stretch>
            <a:fillRect/>
          </a:stretch>
        </p:blipFill>
        <p:spPr>
          <a:xfrm>
            <a:off x="4381500" y="2857500"/>
            <a:ext cx="3143250" cy="1809750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4381500" y="4953000"/>
            <a:ext cx="295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接待 / 查询 / 核销 / 建议</a:t>
            </a:r>
            <a:endParaRPr sz="135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096250" y="20764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11F"/>
                </a:solidFill>
                <a:latin typeface="Aptos Display"/>
                <a:ea typeface="Aptos Display"/>
                <a:cs typeface="Aptos Display"/>
              </a:rPr>
              <a:t>Ami_Greet</a:t>
            </a:r>
            <a:endParaRPr sz="1950" b="1">
              <a:solidFill>
                <a:srgbClr val="1421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96250" y="24193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995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995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迎宾机器人</a:t>
            </a:r>
            <a:endParaRPr sz="1200" b="1">
              <a:solidFill>
                <a:srgbClr val="C995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86725" y="2847975"/>
            <a:ext cx="31623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E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563" y="2857500"/>
            <a:ext cx="2714625" cy="1809750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8096250" y="4953000"/>
            <a:ext cx="295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 / 分流 / 展示 / 品牌</a:t>
            </a:r>
            <a:endParaRPr sz="135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885950" y="5753100"/>
            <a:ext cx="8382000" cy="361950"/>
          </a:xfrm>
          <a:prstGeom prst="rect">
            <a:avLst/>
          </a:prstGeom>
          <a:solidFill>
            <a:srgbClr val="1E5D58"/>
          </a:solidFill>
          <a:ln w="0">
            <a:solidFill>
              <a:srgbClr val="1E5D58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共同底层：客户资产 + 订单服务 + 库存消耗 + AI 动作建议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33400" y="65151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Ami Investor BP</a:t>
            </a:r>
            <a:endParaRPr sz="75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391900" y="64770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04</a:t>
            </a:r>
            <a:endParaRPr sz="90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995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56C"/>
                </a:solidFill>
                <a:latin typeface="Aptos"/>
                <a:ea typeface="Aptos"/>
                <a:cs typeface="Aptos"/>
              </a:rPr>
              <a:t>AMI_CORE</a:t>
            </a:r>
            <a:endParaRPr sz="975" b="1">
              <a:solidFill>
                <a:srgbClr val="C9956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66750"/>
            <a:ext cx="7524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经营后台沉淀客户、营销和库存三类关键资产。</a:t>
            </a:r>
            <a:endParaRPr sz="25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48590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老板看到的是每日经营，平台沉淀的是复购、补货和供应链交易入口。</a:t>
            </a:r>
            <a:endParaRPr sz="11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0075" y="2105025"/>
            <a:ext cx="5010150" cy="28765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E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875" r="875"/>
          <a:stretch>
            <a:fillRect/>
          </a:stretch>
        </p:blipFill>
        <p:spPr>
          <a:xfrm>
            <a:off x="609600" y="2114550"/>
            <a:ext cx="4991100" cy="28575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5895975" y="2105025"/>
            <a:ext cx="5010150" cy="28765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E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l="875" r="875"/>
          <a:stretch>
            <a:fillRect/>
          </a:stretch>
        </p:blipFill>
        <p:spPr>
          <a:xfrm>
            <a:off x="5905500" y="2114550"/>
            <a:ext cx="4991100" cy="285750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238250" y="5295900"/>
            <a:ext cx="2000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409700" y="5467350"/>
            <a:ext cx="1657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E5D5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E5D58"/>
                </a:solidFill>
                <a:latin typeface="Aptos Display"/>
                <a:ea typeface="Aptos Display"/>
                <a:cs typeface="Aptos Display"/>
              </a:rPr>
              <a:t>客户</a:t>
            </a:r>
            <a:endParaRPr sz="2250" b="1">
              <a:solidFill>
                <a:srgbClr val="1E5D5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09700" y="5848350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画像与复购</a:t>
            </a:r>
            <a:endParaRPr sz="1125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09700" y="6096000"/>
            <a:ext cx="1657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标签、RFM、流失预警</a:t>
            </a:r>
            <a:endParaRPr sz="8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790950" y="5295900"/>
            <a:ext cx="2000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962400" y="5467350"/>
            <a:ext cx="1657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rPr>
              <a:t>库存</a:t>
            </a:r>
            <a:endParaRPr sz="2250" b="1">
              <a:solidFill>
                <a:srgbClr val="C9956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962400" y="5848350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消耗与补货</a:t>
            </a:r>
            <a:endParaRPr sz="1125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962400" y="6096000"/>
            <a:ext cx="1657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安全库存、批次、采购</a:t>
            </a:r>
            <a:endParaRPr sz="8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343650" y="5295900"/>
            <a:ext cx="2000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515100" y="5467350"/>
            <a:ext cx="1657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7861A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7861A8"/>
                </a:solidFill>
                <a:latin typeface="Aptos Display"/>
                <a:ea typeface="Aptos Display"/>
                <a:cs typeface="Aptos Display"/>
              </a:rPr>
              <a:t>营销</a:t>
            </a:r>
            <a:endParaRPr sz="2250" b="1">
              <a:solidFill>
                <a:srgbClr val="7861A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515100" y="5848350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动作建议</a:t>
            </a:r>
            <a:endParaRPr sz="1125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15100" y="6096000"/>
            <a:ext cx="1657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邀约话术、活动规则</a:t>
            </a:r>
            <a:endParaRPr sz="8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896350" y="5295900"/>
            <a:ext cx="2038350" cy="1123950"/>
          </a:xfrm>
          <a:prstGeom prst="rect">
            <a:avLst/>
          </a:prstGeom>
          <a:solidFill>
            <a:srgbClr val="14211F"/>
          </a:solidFill>
          <a:ln w="9525">
            <a:solidFill>
              <a:srgbClr val="14211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05900" y="55149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995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995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投资逻辑</a:t>
            </a:r>
            <a:endParaRPr sz="1050" b="1">
              <a:solidFill>
                <a:srgbClr val="C995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05900" y="5829300"/>
            <a:ext cx="1581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管理工具先获客，经营数据再变现。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65151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Ami Investor BP</a:t>
            </a:r>
            <a:endParaRPr sz="75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391900" y="64770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05</a:t>
            </a:r>
            <a:endParaRPr sz="90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995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56C"/>
                </a:solidFill>
                <a:latin typeface="Aptos"/>
                <a:ea typeface="Aptos"/>
                <a:cs typeface="Aptos"/>
              </a:rPr>
              <a:t>AMI_AURA</a:t>
            </a:r>
            <a:endParaRPr sz="975" b="1">
              <a:solidFill>
                <a:srgbClr val="C9956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66750"/>
            <a:ext cx="7524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智能终端让 AI 进入前台、顾问位和护理区。</a:t>
            </a:r>
            <a:endParaRPr sz="25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48590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把复杂系统变成员工可直接使用的服务助手。</a:t>
            </a:r>
            <a:endParaRPr sz="11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33425" y="1876425"/>
            <a:ext cx="5162550" cy="32575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E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5331" r="5331"/>
          <a:stretch>
            <a:fillRect/>
          </a:stretch>
        </p:blipFill>
        <p:spPr>
          <a:xfrm>
            <a:off x="742950" y="1885950"/>
            <a:ext cx="5143500" cy="32385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6572250" y="1981200"/>
            <a:ext cx="4000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800850" y="2152650"/>
            <a:ext cx="400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rPr>
              <a:t>01</a:t>
            </a:r>
            <a:endParaRPr sz="1500" b="1">
              <a:solidFill>
                <a:srgbClr val="C9956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372350" y="21050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识别客户</a:t>
            </a:r>
            <a:endParaRPr sz="150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372350" y="234315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接入当前门店数据</a:t>
            </a:r>
            <a:endParaRPr sz="97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72250" y="2876550"/>
            <a:ext cx="4000500" cy="723900"/>
          </a:xfrm>
          <a:prstGeom prst="rect">
            <a:avLst/>
          </a:prstGeom>
          <a:solidFill>
            <a:srgbClr val="E5F0EC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800850" y="3048000"/>
            <a:ext cx="400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rPr>
              <a:t>02</a:t>
            </a:r>
            <a:endParaRPr sz="1500" b="1">
              <a:solidFill>
                <a:srgbClr val="C9956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372350" y="300037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建议动作</a:t>
            </a:r>
            <a:endParaRPr sz="150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372350" y="32385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预约、库存、客户增长</a:t>
            </a:r>
            <a:endParaRPr sz="97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72250" y="3771900"/>
            <a:ext cx="4000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00850" y="3943350"/>
            <a:ext cx="400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rPr>
              <a:t>03</a:t>
            </a:r>
            <a:endParaRPr sz="1500" b="1">
              <a:solidFill>
                <a:srgbClr val="C9956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372350" y="38957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现场办理</a:t>
            </a:r>
            <a:endParaRPr sz="150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372350" y="413385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核销、服务、收银</a:t>
            </a:r>
            <a:endParaRPr sz="97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572250" y="4667250"/>
            <a:ext cx="4000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00850" y="4838700"/>
            <a:ext cx="400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rPr>
              <a:t>04</a:t>
            </a:r>
            <a:endParaRPr sz="1500" b="1">
              <a:solidFill>
                <a:srgbClr val="C9956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372350" y="479107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回写 Core</a:t>
            </a:r>
            <a:endParaRPr sz="150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372350" y="50292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形成完整服务记录</a:t>
            </a:r>
            <a:endParaRPr sz="97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314450" y="5562600"/>
            <a:ext cx="9334500" cy="400050"/>
          </a:xfrm>
          <a:prstGeom prst="rect">
            <a:avLst/>
          </a:prstGeom>
          <a:solidFill>
            <a:srgbClr val="14211F"/>
          </a:solidFill>
          <a:ln w="0">
            <a:solidFill>
              <a:srgbClr val="14211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价值：降低培训成本，提高服务一致性，让更多经营动作发生在客户还在店里的时刻。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65151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Ami Investor BP</a:t>
            </a:r>
            <a:endParaRPr sz="75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391900" y="64770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06</a:t>
            </a:r>
            <a:endParaRPr sz="90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995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56C"/>
                </a:solidFill>
                <a:latin typeface="Aptos"/>
                <a:ea typeface="Aptos"/>
                <a:cs typeface="Aptos"/>
              </a:rPr>
              <a:t>AMI_GREET</a:t>
            </a:r>
            <a:endParaRPr sz="975" b="1">
              <a:solidFill>
                <a:srgbClr val="C9956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66750"/>
            <a:ext cx="7524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迎宾机器人把门店第一触点变成品牌和数据入口。</a:t>
            </a:r>
            <a:endParaRPr sz="25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48590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它不是摆设，而是接待分流、活动展示和到店体验标准化的入口。</a:t>
            </a:r>
            <a:endParaRPr sz="11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76275" y="1876425"/>
            <a:ext cx="687705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7BE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913" y="1885950"/>
            <a:ext cx="5057775" cy="33718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8058150" y="1943100"/>
            <a:ext cx="28575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248650" y="2143125"/>
            <a:ext cx="133350" cy="133350"/>
          </a:xfrm>
          <a:prstGeom prst="rect">
            <a:avLst/>
          </a:prstGeom>
          <a:solidFill>
            <a:srgbClr val="1E5D58"/>
          </a:solidFill>
          <a:ln w="0">
            <a:solidFill>
              <a:srgbClr val="1E5D5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53450" y="2047875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主动迎宾</a:t>
            </a:r>
            <a:endParaRPr sz="13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53450" y="2257425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高峰期减少无人接待</a:t>
            </a:r>
            <a:endParaRPr sz="90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58150" y="2743200"/>
            <a:ext cx="28575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248650" y="2943225"/>
            <a:ext cx="133350" cy="133350"/>
          </a:xfrm>
          <a:prstGeom prst="rect">
            <a:avLst/>
          </a:prstGeom>
          <a:solidFill>
            <a:srgbClr val="C9956C"/>
          </a:solidFill>
          <a:ln w="0">
            <a:solidFill>
              <a:srgbClr val="C9956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553450" y="2847975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客户分流</a:t>
            </a:r>
            <a:endParaRPr sz="13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53450" y="3057525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预约、新客、会员到店</a:t>
            </a:r>
            <a:endParaRPr sz="90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058150" y="3543300"/>
            <a:ext cx="28575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248650" y="3743325"/>
            <a:ext cx="133350" cy="133350"/>
          </a:xfrm>
          <a:prstGeom prst="rect">
            <a:avLst/>
          </a:prstGeom>
          <a:solidFill>
            <a:srgbClr val="7861A8"/>
          </a:solidFill>
          <a:ln w="0">
            <a:solidFill>
              <a:srgbClr val="7861A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553450" y="3648075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品牌展示</a:t>
            </a:r>
            <a:endParaRPr sz="13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53450" y="3857625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项目、会员活动、门店理念</a:t>
            </a:r>
            <a:endParaRPr sz="90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058150" y="4343400"/>
            <a:ext cx="28575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248650" y="4543425"/>
            <a:ext cx="133350" cy="133350"/>
          </a:xfrm>
          <a:prstGeom prst="rect">
            <a:avLst/>
          </a:prstGeom>
          <a:solidFill>
            <a:srgbClr val="D95F59"/>
          </a:solidFill>
          <a:ln w="0">
            <a:solidFill>
              <a:srgbClr val="D95F59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553450" y="4448175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数据协同</a:t>
            </a:r>
            <a:endParaRPr sz="13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53450" y="4657725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 Aura 与 Core 闭环</a:t>
            </a:r>
            <a:endParaRPr sz="90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409700" y="5753100"/>
            <a:ext cx="9258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E5D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E5D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适合中高端美容院、皮肤管理中心、SPA、医美咨询门店和区域连锁样板店。</a:t>
            </a:r>
            <a:endParaRPr sz="1575" b="1">
              <a:solidFill>
                <a:srgbClr val="1E5D5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65151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Ami Investor BP</a:t>
            </a:r>
            <a:endParaRPr sz="75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391900" y="64770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07</a:t>
            </a:r>
            <a:endParaRPr sz="90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995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56C"/>
                </a:solidFill>
                <a:latin typeface="Aptos"/>
                <a:ea typeface="Aptos"/>
                <a:cs typeface="Aptos"/>
              </a:rPr>
              <a:t>BUSINESS MODEL</a:t>
            </a:r>
            <a:endParaRPr sz="975" b="1">
              <a:solidFill>
                <a:srgbClr val="C9956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66750"/>
            <a:ext cx="7524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同一套门店数据，支撑五条收入曲线。</a:t>
            </a:r>
            <a:endParaRPr sz="25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48590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订阅提供稳定底盘，硬件增强粘性，耗品交易打开收入天花板。</a:t>
            </a:r>
            <a:endParaRPr sz="11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3371850"/>
            <a:ext cx="1466850" cy="1257300"/>
          </a:xfrm>
          <a:prstGeom prst="rect">
            <a:avLst/>
          </a:prstGeom>
          <a:solidFill>
            <a:srgbClr val="1E5D58"/>
          </a:solidFill>
          <a:ln w="0">
            <a:solidFill>
              <a:srgbClr val="1E5D5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4876800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SaaS 订阅</a:t>
            </a:r>
            <a:endParaRPr sz="13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16255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Core 按门店/月收费</a:t>
            </a:r>
            <a:endParaRPr sz="90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857500" y="3067050"/>
            <a:ext cx="1466850" cy="1562100"/>
          </a:xfrm>
          <a:prstGeom prst="rect">
            <a:avLst/>
          </a:prstGeom>
          <a:solidFill>
            <a:srgbClr val="C9956C"/>
          </a:solidFill>
          <a:ln w="0">
            <a:solidFill>
              <a:srgbClr val="C9956C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762250" y="4876800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智能硬件</a:t>
            </a:r>
            <a:endParaRPr sz="13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743200" y="516255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Aura / Greet 销售或租赁</a:t>
            </a:r>
            <a:endParaRPr sz="90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991100" y="2762250"/>
            <a:ext cx="1466850" cy="1866900"/>
          </a:xfrm>
          <a:prstGeom prst="rect">
            <a:avLst/>
          </a:prstGeom>
          <a:solidFill>
            <a:srgbClr val="7861A8"/>
          </a:solidFill>
          <a:ln w="0">
            <a:solidFill>
              <a:srgbClr val="7861A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895850" y="4876800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增值包</a:t>
            </a:r>
            <a:endParaRPr sz="13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76800" y="516255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话术、营销、推荐、自动触达</a:t>
            </a:r>
            <a:endParaRPr sz="90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24700" y="2457450"/>
            <a:ext cx="1466850" cy="2171700"/>
          </a:xfrm>
          <a:prstGeom prst="rect">
            <a:avLst/>
          </a:prstGeom>
          <a:solidFill>
            <a:srgbClr val="D95F59"/>
          </a:solidFill>
          <a:ln w="0">
            <a:solidFill>
              <a:srgbClr val="D95F59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029450" y="4876800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耗品供应分成</a:t>
            </a:r>
            <a:endParaRPr sz="13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010400" y="516255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智能补货带来采购 GMV</a:t>
            </a:r>
            <a:endParaRPr sz="90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258300" y="2152650"/>
            <a:ext cx="1466850" cy="2476500"/>
          </a:xfrm>
          <a:prstGeom prst="rect">
            <a:avLst/>
          </a:prstGeom>
          <a:solidFill>
            <a:srgbClr val="4F6F9F"/>
          </a:solidFill>
          <a:ln w="0">
            <a:solidFill>
              <a:srgbClr val="4F6F9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163050" y="4876800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连锁定制</a:t>
            </a:r>
            <a:endParaRPr sz="13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0" y="516255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总部权限、数据和供应链配置</a:t>
            </a:r>
            <a:endParaRPr sz="900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19250" y="5829300"/>
            <a:ext cx="8953500" cy="438150"/>
          </a:xfrm>
          <a:prstGeom prst="rect">
            <a:avLst/>
          </a:prstGeom>
          <a:solidFill>
            <a:srgbClr val="14211F"/>
          </a:solidFill>
          <a:ln w="9525">
            <a:solidFill>
              <a:srgbClr val="14211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847850" y="5895975"/>
            <a:ext cx="8477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收入逻辑：先以管理和硬件进入门店，再用库存消耗数据切入耗品采购交易。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5151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Ami Investor BP</a:t>
            </a:r>
            <a:endParaRPr sz="75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391900" y="64770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08</a:t>
            </a:r>
            <a:endParaRPr sz="90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995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56C"/>
                </a:solidFill>
                <a:latin typeface="Aptos"/>
                <a:ea typeface="Aptos"/>
                <a:cs typeface="Aptos"/>
              </a:rPr>
              <a:t>SUPPLY FLYWHEEL</a:t>
            </a:r>
            <a:endParaRPr sz="975" b="1">
              <a:solidFill>
                <a:srgbClr val="C9956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66750"/>
            <a:ext cx="7524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库存智能补货让 Ami 从工具升级为交易入口。</a:t>
            </a:r>
            <a:endParaRPr sz="25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48590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库存模块掌握真实消耗、补货时点和品类需求，是耗品供应分成的前置入口。</a:t>
            </a:r>
            <a:endParaRPr sz="11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3238500"/>
            <a:ext cx="22860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3467100"/>
            <a:ext cx="133350" cy="495300"/>
          </a:xfrm>
          <a:prstGeom prst="rect">
            <a:avLst/>
          </a:prstGeom>
          <a:solidFill>
            <a:srgbClr val="1E5D58"/>
          </a:solidFill>
          <a:ln w="0">
            <a:solidFill>
              <a:srgbClr val="1E5D5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333500" y="34480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服务消耗</a:t>
            </a:r>
            <a:endParaRPr sz="16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33500" y="37719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 BOM / 次卡核销</a:t>
            </a:r>
            <a:endParaRPr sz="97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953000" y="2076450"/>
            <a:ext cx="22860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143500" y="2305050"/>
            <a:ext cx="133350" cy="495300"/>
          </a:xfrm>
          <a:prstGeom prst="rect">
            <a:avLst/>
          </a:prstGeom>
          <a:solidFill>
            <a:srgbClr val="C9956C"/>
          </a:solidFill>
          <a:ln w="0">
            <a:solidFill>
              <a:srgbClr val="C9956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410200" y="22860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库存预警</a:t>
            </a:r>
            <a:endParaRPr sz="16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410200" y="26098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安全库存 / 异常消耗</a:t>
            </a:r>
            <a:endParaRPr sz="97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029700" y="3238500"/>
            <a:ext cx="22860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220200" y="3467100"/>
            <a:ext cx="133350" cy="495300"/>
          </a:xfrm>
          <a:prstGeom prst="rect">
            <a:avLst/>
          </a:prstGeom>
          <a:solidFill>
            <a:srgbClr val="D95F59"/>
          </a:solidFill>
          <a:ln w="0">
            <a:solidFill>
              <a:srgbClr val="D95F59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486900" y="34480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智能补货</a:t>
            </a:r>
            <a:endParaRPr sz="16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486900" y="37719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供应商目录 / 价格建议</a:t>
            </a:r>
            <a:endParaRPr sz="97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953000" y="4724400"/>
            <a:ext cx="22860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143500" y="4953000"/>
            <a:ext cx="133350" cy="495300"/>
          </a:xfrm>
          <a:prstGeom prst="rect">
            <a:avLst/>
          </a:prstGeom>
          <a:solidFill>
            <a:srgbClr val="7861A8"/>
          </a:solidFill>
          <a:ln w="0">
            <a:solidFill>
              <a:srgbClr val="7861A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410200" y="49339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采购回写</a:t>
            </a:r>
            <a:endParaRPr sz="16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410200" y="52578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入库 / 成本 / 批次</a:t>
            </a:r>
            <a:endParaRPr sz="97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953000" y="3238500"/>
            <a:ext cx="2286000" cy="1219200"/>
          </a:xfrm>
          <a:prstGeom prst="rect">
            <a:avLst/>
          </a:prstGeom>
          <a:solidFill>
            <a:srgbClr val="14211F"/>
          </a:solidFill>
          <a:ln w="0">
            <a:solidFill>
              <a:srgbClr val="14211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219700" y="340995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C995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995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耗品采购 GMV</a:t>
            </a:r>
            <a:endParaRPr sz="1875" b="1">
              <a:solidFill>
                <a:srgbClr val="C995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219700" y="3848100"/>
            <a:ext cx="1752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供应商分成 / 佣金 / 服务费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247900" y="5924550"/>
            <a:ext cx="771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E5D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E5D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真实消耗越多，补货越准；门店越多，议价越强。</a:t>
            </a:r>
            <a:endParaRPr sz="1650" b="1">
              <a:solidFill>
                <a:srgbClr val="1E5D5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33400" y="65151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Ami Investor BP</a:t>
            </a:r>
            <a:endParaRPr sz="75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391900" y="64770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09</a:t>
            </a:r>
            <a:endParaRPr sz="90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619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995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56C"/>
                </a:solidFill>
                <a:latin typeface="Aptos"/>
                <a:ea typeface="Aptos"/>
                <a:cs typeface="Aptos"/>
              </a:rPr>
              <a:t>ROADMAP</a:t>
            </a:r>
            <a:endParaRPr sz="975" b="1">
              <a:solidFill>
                <a:srgbClr val="C9956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66750"/>
            <a:ext cx="7524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先验证样板门店，再放大供应链和连锁复制。</a:t>
            </a:r>
            <a:endParaRPr sz="2550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48590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本轮资金重点用于产品稳定、硬件打样、样板客户和供应链能力。</a:t>
            </a:r>
            <a:endParaRPr sz="11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381250"/>
            <a:ext cx="1771650" cy="38100"/>
          </a:xfrm>
          <a:prstGeom prst="rect">
            <a:avLst/>
          </a:prstGeom>
          <a:solidFill>
            <a:srgbClr val="C9956C"/>
          </a:solidFill>
          <a:ln w="0">
            <a:solidFill>
              <a:srgbClr val="C9956C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2724150"/>
            <a:ext cx="175260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95275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rPr>
              <a:t>01</a:t>
            </a:r>
            <a:endParaRPr sz="1500" b="1">
              <a:solidFill>
                <a:srgbClr val="C9956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333375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MVP 验证</a:t>
            </a:r>
            <a:endParaRPr sz="1575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3733800"/>
            <a:ext cx="1333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Core + Aura 核心流程，样板店跑通服务和库存数据。</a:t>
            </a:r>
            <a:endParaRPr sz="8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009900" y="2381250"/>
            <a:ext cx="1771650" cy="38100"/>
          </a:xfrm>
          <a:prstGeom prst="rect">
            <a:avLst/>
          </a:prstGeom>
          <a:solidFill>
            <a:srgbClr val="C9956C"/>
          </a:solidFill>
          <a:ln w="0">
            <a:solidFill>
              <a:srgbClr val="C9956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819400" y="2724150"/>
            <a:ext cx="175260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990850" y="295275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rPr>
              <a:t>02</a:t>
            </a:r>
            <a:endParaRPr sz="1500" b="1">
              <a:solidFill>
                <a:srgbClr val="C9956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990850" y="333375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样板复制</a:t>
            </a:r>
            <a:endParaRPr sz="1575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90850" y="3733800"/>
            <a:ext cx="1333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沉淀交付 SOP，验证成交、复购、库存周转改善。</a:t>
            </a:r>
            <a:endParaRPr sz="8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162550" y="2381250"/>
            <a:ext cx="1771650" cy="38100"/>
          </a:xfrm>
          <a:prstGeom prst="rect">
            <a:avLst/>
          </a:prstGeom>
          <a:solidFill>
            <a:srgbClr val="C9956C"/>
          </a:solidFill>
          <a:ln w="0">
            <a:solidFill>
              <a:srgbClr val="C9956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972050" y="2724150"/>
            <a:ext cx="1752600" cy="1714500"/>
          </a:xfrm>
          <a:prstGeom prst="rect">
            <a:avLst/>
          </a:prstGeom>
          <a:solidFill>
            <a:srgbClr val="E5F0EC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143500" y="295275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rPr>
              <a:t>03</a:t>
            </a:r>
            <a:endParaRPr sz="1500" b="1">
              <a:solidFill>
                <a:srgbClr val="C9956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143500" y="333375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供应链试点</a:t>
            </a:r>
            <a:endParaRPr sz="1575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143500" y="3733800"/>
            <a:ext cx="1333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供应商目录、补货建议、采购下单和入库回写。</a:t>
            </a:r>
            <a:endParaRPr sz="8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315200" y="2381250"/>
            <a:ext cx="1771650" cy="38100"/>
          </a:xfrm>
          <a:prstGeom prst="rect">
            <a:avLst/>
          </a:prstGeom>
          <a:solidFill>
            <a:srgbClr val="C9956C"/>
          </a:solidFill>
          <a:ln w="0">
            <a:solidFill>
              <a:srgbClr val="C9956C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124700" y="2724150"/>
            <a:ext cx="175260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296150" y="295275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rPr>
              <a:t>04</a:t>
            </a:r>
            <a:endParaRPr sz="1500" b="1">
              <a:solidFill>
                <a:srgbClr val="C9956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296150" y="333375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区域拓展</a:t>
            </a:r>
            <a:endParaRPr sz="1575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296150" y="3733800"/>
            <a:ext cx="1333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渠道伙伴、耗品供应商、连锁品牌顾问协同获客。</a:t>
            </a:r>
            <a:endParaRPr sz="8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467850" y="2381250"/>
            <a:ext cx="1771650" cy="38100"/>
          </a:xfrm>
          <a:prstGeom prst="rect">
            <a:avLst/>
          </a:prstGeom>
          <a:solidFill>
            <a:srgbClr val="DED6CE"/>
          </a:solidFill>
          <a:ln w="0">
            <a:solidFill>
              <a:srgbClr val="DED6CE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277350" y="2724150"/>
            <a:ext cx="175260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448800" y="295275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56C"/>
                </a:solidFill>
                <a:latin typeface="Aptos Display"/>
                <a:ea typeface="Aptos Display"/>
                <a:cs typeface="Aptos Display"/>
              </a:rPr>
              <a:t>05</a:t>
            </a:r>
            <a:endParaRPr sz="1500" b="1">
              <a:solidFill>
                <a:srgbClr val="C9956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448800" y="333375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连锁方案</a:t>
            </a:r>
            <a:endParaRPr sz="1575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448800" y="3733800"/>
            <a:ext cx="1333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E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总部管控、多门店数据、AI 决策和连锁集采。</a:t>
            </a:r>
            <a:endParaRPr sz="825" b="0">
              <a:solidFill>
                <a:srgbClr val="6E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219200" y="5219700"/>
            <a:ext cx="1200150" cy="323850"/>
          </a:xfrm>
          <a:prstGeom prst="rect">
            <a:avLst/>
          </a:prstGeom>
          <a:solidFill>
            <a:srgbClr val="1E5D58"/>
          </a:solidFill>
          <a:ln w="0">
            <a:solidFill>
              <a:srgbClr val="1E5D58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产品研发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857500" y="5219700"/>
            <a:ext cx="1200150" cy="323850"/>
          </a:xfrm>
          <a:prstGeom prst="rect">
            <a:avLst/>
          </a:prstGeom>
          <a:solidFill>
            <a:srgbClr val="C9956C"/>
          </a:solidFill>
          <a:ln w="0">
            <a:solidFill>
              <a:srgbClr val="C9956C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能力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495800" y="5219700"/>
            <a:ext cx="1200150" cy="323850"/>
          </a:xfrm>
          <a:prstGeom prst="rect">
            <a:avLst/>
          </a:prstGeom>
          <a:solidFill>
            <a:srgbClr val="D95F59"/>
          </a:solidFill>
          <a:ln w="0">
            <a:solidFill>
              <a:srgbClr val="D95F59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供应链接入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134100" y="5219700"/>
            <a:ext cx="1200150" cy="323850"/>
          </a:xfrm>
          <a:prstGeom prst="rect">
            <a:avLst/>
          </a:prstGeom>
          <a:solidFill>
            <a:srgbClr val="7861A8"/>
          </a:solidFill>
          <a:ln w="0">
            <a:solidFill>
              <a:srgbClr val="7861A8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硬件打样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772400" y="5219700"/>
            <a:ext cx="1200150" cy="323850"/>
          </a:xfrm>
          <a:prstGeom prst="rect">
            <a:avLst/>
          </a:prstGeom>
          <a:solidFill>
            <a:srgbClr val="4F6F9F"/>
          </a:solidFill>
          <a:ln w="0">
            <a:solidFill>
              <a:srgbClr val="4F6F9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样板客户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410700" y="5219700"/>
            <a:ext cx="1200150" cy="323850"/>
          </a:xfrm>
          <a:prstGeom prst="rect">
            <a:avLst/>
          </a:prstGeom>
          <a:solidFill>
            <a:srgbClr val="14211F"/>
          </a:solidFill>
          <a:ln w="0">
            <a:solidFill>
              <a:srgbClr val="14211F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渠道交付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200150" y="5905500"/>
            <a:ext cx="981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421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愿景：成为美业门店的 AI 经营大脑，并通过真实经营数据连接更高效的美业供应网络。</a:t>
            </a:r>
            <a:endParaRPr sz="1575" b="1">
              <a:solidFill>
                <a:srgbClr val="1421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33400" y="65151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Ami Investor BP</a:t>
            </a:r>
            <a:endParaRPr sz="75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1391900" y="64770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A94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948E"/>
                </a:solidFill>
                <a:latin typeface="Aptos"/>
                <a:ea typeface="Aptos"/>
                <a:cs typeface="Aptos"/>
              </a:rPr>
              <a:t>10</a:t>
            </a:r>
            <a:endParaRPr sz="900" b="0">
              <a:solidFill>
                <a:srgbClr val="9A948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1989</Words>
  <Application>WPS 演示</Application>
  <PresentationFormat>Converted Presentation</PresentationFormat>
  <Paragraphs>366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Aptos Display</vt:lpstr>
      <vt:lpstr>Segoe UI Variable Display</vt:lpstr>
      <vt:lpstr>微软雅黑</vt:lpstr>
      <vt:lpstr>Aptos</vt:lpstr>
      <vt:lpstr>Segoe UI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huang_hm</cp:lastModifiedBy>
  <cp:revision>1</cp:revision>
  <dcterms:created xsi:type="dcterms:W3CDTF">2026-05-27T15:15:37Z</dcterms:created>
  <dcterms:modified xsi:type="dcterms:W3CDTF">2026-05-27T15:15:37Z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60A9535B72D7442281A125D600E96C21_12</vt:lpwstr>
  </property>
  <property fmtid="{D5CDD505-2E9C-101B-9397-08002B2CF9AE}" pid="3" name="KSOProductBuildVer">
    <vt:lpwstr>2052-12.1.0.26375</vt:lpwstr>
  </property>
</Properties>
</file>